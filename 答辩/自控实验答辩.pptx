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1" r:id="rId8"/>
    <p:sldId id="260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86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7F8755-9927-4D3A-B02D-21B2D0393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13E32B-0EBB-4EA5-BCD8-604A035A7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0E1241-2655-4465-8313-3D3B13ABF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D0CEF-44CE-4DC7-B385-D01BD43AF392}" type="datetimeFigureOut">
              <a:rPr lang="zh-CN" altLang="en-US" smtClean="0"/>
              <a:t>2020/7/25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D2FA6-126E-477B-AF4E-0BCFC31D0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2CE54F-2CCF-4534-8DE9-09DBA64EE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C864-9484-411B-915B-C24E6F8D3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791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AA70FF-A977-48CD-8992-D1CDB2DD0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CC32D1-624F-4241-989C-643BC6C5E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D107FD-B14A-4E98-A33F-91580B802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D0CEF-44CE-4DC7-B385-D01BD43AF392}" type="datetimeFigureOut">
              <a:rPr lang="zh-CN" altLang="en-US" smtClean="0"/>
              <a:t>2020/7/25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4FC4A9-4814-474B-93C8-26180A3F4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3B5B45-7A30-4699-9D2E-E21D01946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C864-9484-411B-915B-C24E6F8D3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328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EB833D-492A-4CD4-A574-85ADDE2A2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D4699B-3331-4DE3-A6E0-FB487892A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C55C80-D917-43A8-A94C-680FCF4DA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D0CEF-44CE-4DC7-B385-D01BD43AF392}" type="datetimeFigureOut">
              <a:rPr lang="zh-CN" altLang="en-US" smtClean="0"/>
              <a:t>2020/7/25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E5623A-9C10-4B9E-ADE4-D41B88D3A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FA1D07-4D0E-4B7F-A3AE-A5C4D84D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C864-9484-411B-915B-C24E6F8D3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105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3C671-6234-4FB8-AE2A-AC29F4E5E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DBA8CB-7FC4-4008-A94E-DC4B3EF5BF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0193E9-87CB-479C-9EA6-53771F377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CCB8E2-0E90-4367-962E-AFA8A8247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D0CEF-44CE-4DC7-B385-D01BD43AF392}" type="datetimeFigureOut">
              <a:rPr lang="zh-CN" altLang="en-US" smtClean="0"/>
              <a:t>2020/7/25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3BA308-D542-47CC-9440-A25347C2D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2A2639-C06E-440E-92DF-AAA95E9C8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C864-9484-411B-915B-C24E6F8D3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223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736689-C2E5-4EEB-8615-00EEF5196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33E340-C48D-4D91-9EBA-EE7538B14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0D5E90-FAB7-4375-BE02-7C88BF9F8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65D68DA-5188-4A92-BEC7-7ED321FA05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5B61C30-DB7D-4CD6-A560-CFC9321F4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850A621-A7BB-41FE-A9DB-D4FC936BA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D0CEF-44CE-4DC7-B385-D01BD43AF392}" type="datetimeFigureOut">
              <a:rPr lang="zh-CN" altLang="en-US" smtClean="0"/>
              <a:t>2020/7/25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8D435D5-6465-4F40-BFA4-E6739E899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EFC80BA-56F5-4C37-BF85-800DB5166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C864-9484-411B-915B-C24E6F8D3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514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3FA99E-F25E-47C9-98AC-049BD23B7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DA22753-BC98-4981-B47E-7CE4D81EB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D0CEF-44CE-4DC7-B385-D01BD43AF392}" type="datetimeFigureOut">
              <a:rPr lang="zh-CN" altLang="en-US" smtClean="0"/>
              <a:t>2020/7/25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403AFA-8886-4549-AFFC-57DA99B78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CD15F7-923F-4062-A321-89E8ED66E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C864-9484-411B-915B-C24E6F8D3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34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91D2FF8-54CF-4081-BB92-129A9B4B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D0CEF-44CE-4DC7-B385-D01BD43AF392}" type="datetimeFigureOut">
              <a:rPr lang="zh-CN" altLang="en-US" smtClean="0"/>
              <a:t>2020/7/25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FC1E9E3-0A2C-484E-A214-CDF2ECE5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19DACE-28B2-478B-9F46-58605D585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C864-9484-411B-915B-C24E6F8D3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26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65D239-597A-4D38-8C60-C9ED9C715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FD8AC7-F64C-4E38-9DDC-EA8D961D2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5C5B25-8485-4CA6-9D32-EEF7C7140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576B98-D723-4936-A33C-A073C8301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D0CEF-44CE-4DC7-B385-D01BD43AF392}" type="datetimeFigureOut">
              <a:rPr lang="zh-CN" altLang="en-US" smtClean="0"/>
              <a:t>2020/7/25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D027E5-ED90-45EB-A8C2-337EE05AF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34BBD7-479A-470B-81FB-03533A13F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C864-9484-411B-915B-C24E6F8D3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677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94E72A-949B-4FC3-B189-824FC5805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37ABB9-57F0-4F31-A655-1C5ABF60D3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96F310-EB19-4ED7-9271-BDDC04F18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99673A-BBC4-41A9-8B9D-2D85F08F8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D0CEF-44CE-4DC7-B385-D01BD43AF392}" type="datetimeFigureOut">
              <a:rPr lang="zh-CN" altLang="en-US" smtClean="0"/>
              <a:t>2020/7/25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5492F9-2B15-4B89-994D-E0C36986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777300-6575-47EF-975C-FBF7F9E73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C864-9484-411B-915B-C24E6F8D3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489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389C71-7880-40C5-B0D5-A5526D252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9A81FE-09D5-405E-8B76-5BFB654A8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F48FD6-7E12-4ABF-B34B-E6A13BB03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D0CEF-44CE-4DC7-B385-D01BD43AF392}" type="datetimeFigureOut">
              <a:rPr lang="zh-CN" altLang="en-US" smtClean="0"/>
              <a:t>2020/7/25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AF0E18-BBE8-40C9-A746-0295D3C09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80233E-1029-4957-B9F7-225439C94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C864-9484-411B-915B-C24E6F8D3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914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1D53D92-DD0B-486A-A608-50071B903C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E4D575-7A28-4BA1-9A14-CC405C1C3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60023D-F9B1-4902-9A8A-070BA3375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D0CEF-44CE-4DC7-B385-D01BD43AF392}" type="datetimeFigureOut">
              <a:rPr lang="zh-CN" altLang="en-US" smtClean="0"/>
              <a:t>2020/7/25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3409DE-652C-4DCF-94CB-F28F76F4B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B9F698-8A69-4F36-94AE-846DD35A9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AC864-9484-411B-915B-C24E6F8D3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516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84928BE-9217-4E20-ACD6-F9CC4F819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4D8410-1AE7-4DAB-8EE2-F26F3E857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D9D5B6-D362-4E37-93E5-FAEE9D7CDB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3D0CEF-44CE-4DC7-B385-D01BD43AF392}" type="datetimeFigureOut">
              <a:rPr lang="zh-CN" altLang="en-US" smtClean="0"/>
              <a:t>2020/7/25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DC5C5C-480D-4896-AD1B-EE0BDA8D1F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7728DD-EEBA-474A-953F-78371C30F9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AC864-9484-411B-915B-C24E6F8D3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6720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231566-BF7C-422C-89EF-1FD4FC85DF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控制理论综合实验答辩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EDACA48-E2B1-4D71-A45F-CFADA5231E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54438"/>
            <a:ext cx="9144000" cy="1655762"/>
          </a:xfrm>
        </p:spPr>
        <p:txBody>
          <a:bodyPr/>
          <a:lstStyle/>
          <a:p>
            <a:r>
              <a:rPr lang="zh-CN" altLang="en-US" dirty="0"/>
              <a:t>曾文正 </a:t>
            </a:r>
            <a:r>
              <a:rPr lang="en-US" altLang="zh-CN" dirty="0"/>
              <a:t>U201715853</a:t>
            </a:r>
          </a:p>
          <a:p>
            <a:r>
              <a:rPr lang="zh-CN" altLang="en-US" dirty="0"/>
              <a:t>校交</a:t>
            </a:r>
            <a:r>
              <a:rPr lang="en-US" altLang="zh-CN" dirty="0"/>
              <a:t>1701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9035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72C94B-37C9-47D5-8E02-05E234518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179675"/>
            <a:ext cx="10515600" cy="1325563"/>
          </a:xfrm>
        </p:spPr>
        <p:txBody>
          <a:bodyPr/>
          <a:lstStyle/>
          <a:p>
            <a:r>
              <a:rPr lang="zh-CN" altLang="en-US" dirty="0"/>
              <a:t>        </a:t>
            </a:r>
            <a:r>
              <a:rPr lang="zh-CN" altLang="en-US" b="1" dirty="0"/>
              <a:t>自动控制理论的核心任务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5FF76C3-C747-42AA-BC9B-8B2E3BAB3F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016713"/>
              </p:ext>
            </p:extLst>
          </p:nvPr>
        </p:nvGraphicFramePr>
        <p:xfrm>
          <a:off x="1139238" y="899805"/>
          <a:ext cx="1942353" cy="5135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" name="AxGlyph" r:id="rId3" imgW="146880" imgH="390960" progId="AxGlyph.Document">
                  <p:embed/>
                </p:oleObj>
              </mc:Choice>
              <mc:Fallback>
                <p:oleObj name="AxGlyph" r:id="rId3" imgW="146880" imgH="390960" progId="AxGlyph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39238" y="899805"/>
                        <a:ext cx="1942353" cy="51358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829B94D-C2C4-4E57-94B0-F480BE40B8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497376"/>
              </p:ext>
            </p:extLst>
          </p:nvPr>
        </p:nvGraphicFramePr>
        <p:xfrm>
          <a:off x="3081591" y="4199895"/>
          <a:ext cx="9197975" cy="192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" name="AxMath" r:id="rId5" imgW="4598280" imgH="963000" progId="Equation.AxMath">
                  <p:embed/>
                </p:oleObj>
              </mc:Choice>
              <mc:Fallback>
                <p:oleObj name="AxMath" r:id="rId5" imgW="4598280" imgH="96300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81591" y="4199895"/>
                        <a:ext cx="9197975" cy="1927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85D4BF7-E366-49D6-B9CF-61B18AE867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693984"/>
              </p:ext>
            </p:extLst>
          </p:nvPr>
        </p:nvGraphicFramePr>
        <p:xfrm>
          <a:off x="3081591" y="2818557"/>
          <a:ext cx="5165725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" name="AxMath" r:id="rId7" imgW="2583360" imgH="668880" progId="Equation.AxMath">
                  <p:embed/>
                </p:oleObj>
              </mc:Choice>
              <mc:Fallback>
                <p:oleObj name="AxMath" r:id="rId7" imgW="2583360" imgH="66888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81591" y="2818557"/>
                        <a:ext cx="5165725" cy="1336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4CC9E68-B7D9-470F-8ECE-C1524C2039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3449944"/>
              </p:ext>
            </p:extLst>
          </p:nvPr>
        </p:nvGraphicFramePr>
        <p:xfrm>
          <a:off x="3081591" y="1169775"/>
          <a:ext cx="8982075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" name="AxMath" r:id="rId9" imgW="4491000" imgH="653400" progId="Equation.AxMath">
                  <p:embed/>
                </p:oleObj>
              </mc:Choice>
              <mc:Fallback>
                <p:oleObj name="AxMath" r:id="rId9" imgW="4491000" imgH="65340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81591" y="1169775"/>
                        <a:ext cx="8982075" cy="1308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箭头: 下 7">
            <a:extLst>
              <a:ext uri="{FF2B5EF4-FFF2-40B4-BE49-F238E27FC236}">
                <a16:creationId xmlns:a16="http://schemas.microsoft.com/office/drawing/2014/main" id="{3A6AC7D7-BFA5-413E-817A-CE1C53F339EC}"/>
              </a:ext>
            </a:extLst>
          </p:cNvPr>
          <p:cNvSpPr/>
          <p:nvPr/>
        </p:nvSpPr>
        <p:spPr>
          <a:xfrm rot="10800000">
            <a:off x="886523" y="1306492"/>
            <a:ext cx="210009" cy="44799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9552C51-28F8-4930-9074-040DB81EE9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6062189"/>
              </p:ext>
            </p:extLst>
          </p:nvPr>
        </p:nvGraphicFramePr>
        <p:xfrm>
          <a:off x="566078" y="6127120"/>
          <a:ext cx="43624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" name="AxMath" r:id="rId11" imgW="2180880" imgH="208800" progId="Equation.AxMath">
                  <p:embed/>
                </p:oleObj>
              </mc:Choice>
              <mc:Fallback>
                <p:oleObj name="AxMath" r:id="rId11" imgW="2180880" imgH="20880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6078" y="6127120"/>
                        <a:ext cx="436245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571F883-1470-4107-9113-FE7FB382C7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0629243"/>
              </p:ext>
            </p:extLst>
          </p:nvPr>
        </p:nvGraphicFramePr>
        <p:xfrm>
          <a:off x="57524" y="954257"/>
          <a:ext cx="647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8" name="AxMath" r:id="rId13" imgW="324360" imgH="208800" progId="Equation.AxMath">
                  <p:embed/>
                </p:oleObj>
              </mc:Choice>
              <mc:Fallback>
                <p:oleObj name="AxMath" r:id="rId13" imgW="324360" imgH="20880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7524" y="954257"/>
                        <a:ext cx="6477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87AEF93-747C-4C52-96E6-47E3AF6CEF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391139"/>
              </p:ext>
            </p:extLst>
          </p:nvPr>
        </p:nvGraphicFramePr>
        <p:xfrm>
          <a:off x="71724" y="5562103"/>
          <a:ext cx="647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" name="AxMath" r:id="rId15" imgW="324360" imgH="208800" progId="Equation.AxMath">
                  <p:embed/>
                </p:oleObj>
              </mc:Choice>
              <mc:Fallback>
                <p:oleObj name="AxMath" r:id="rId15" imgW="324360" imgH="20880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1724" y="5562103"/>
                        <a:ext cx="6477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74022DA-6C07-4000-9DDE-9F9FBB8A08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8642828"/>
              </p:ext>
            </p:extLst>
          </p:nvPr>
        </p:nvGraphicFramePr>
        <p:xfrm>
          <a:off x="238823" y="3258180"/>
          <a:ext cx="647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" name="AxMath" r:id="rId17" imgW="324360" imgH="208800" progId="Equation.AxMath">
                  <p:embed/>
                </p:oleObj>
              </mc:Choice>
              <mc:Fallback>
                <p:oleObj name="AxMath" r:id="rId17" imgW="324360" imgH="20880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38823" y="3258180"/>
                        <a:ext cx="6477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73328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1691AF6-D4BB-4DA4-A88E-B01CBCE117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8778119"/>
              </p:ext>
            </p:extLst>
          </p:nvPr>
        </p:nvGraphicFramePr>
        <p:xfrm>
          <a:off x="0" y="93662"/>
          <a:ext cx="12393612" cy="667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" name="AxMath" r:id="rId3" imgW="9062640" imgH="4881240" progId="Equation.AxMath">
                  <p:embed/>
                </p:oleObj>
              </mc:Choice>
              <mc:Fallback>
                <p:oleObj name="AxMath" r:id="rId3" imgW="9062640" imgH="488124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93662"/>
                        <a:ext cx="12393612" cy="6670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4EF7AD4F-712A-4455-906F-6A94084C2751}"/>
              </a:ext>
            </a:extLst>
          </p:cNvPr>
          <p:cNvSpPr txBox="1"/>
          <p:nvPr/>
        </p:nvSpPr>
        <p:spPr>
          <a:xfrm>
            <a:off x="241300" y="3961907"/>
            <a:ext cx="2292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关注重点</a:t>
            </a:r>
            <a:r>
              <a:rPr lang="zh-CN" altLang="en-US" dirty="0"/>
              <a:t>：稳定性、动态性能、稳态性能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E346A2F-F719-4B43-B543-0FE39EE1C92E}"/>
              </a:ext>
            </a:extLst>
          </p:cNvPr>
          <p:cNvSpPr txBox="1"/>
          <p:nvPr/>
        </p:nvSpPr>
        <p:spPr>
          <a:xfrm>
            <a:off x="508000" y="5200650"/>
            <a:ext cx="1943100" cy="55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561D709-E221-4A8F-814D-6A806A646722}"/>
              </a:ext>
            </a:extLst>
          </p:cNvPr>
          <p:cNvSpPr txBox="1"/>
          <p:nvPr/>
        </p:nvSpPr>
        <p:spPr>
          <a:xfrm>
            <a:off x="241300" y="5021152"/>
            <a:ext cx="1943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重点研究对象</a:t>
            </a:r>
            <a:r>
              <a:rPr lang="zh-CN" altLang="en-US" dirty="0"/>
              <a:t>：闭环极点位置</a:t>
            </a:r>
          </a:p>
        </p:txBody>
      </p:sp>
    </p:spTree>
    <p:extLst>
      <p:ext uri="{BB962C8B-B14F-4D97-AF65-F5344CB8AC3E}">
        <p14:creationId xmlns:p14="http://schemas.microsoft.com/office/powerpoint/2010/main" val="444973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08896C-48CC-4C86-BEB6-0EE3C399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3600" b="1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实验和理论</a:t>
            </a:r>
            <a:r>
              <a:rPr lang="zh-CN" altLang="en-US" sz="3600" b="1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间的</a:t>
            </a:r>
            <a:r>
              <a:rPr lang="zh-CN" altLang="en-US" sz="3600" b="1" dirty="0">
                <a:ea typeface="等线" panose="02010600030101010101" pitchFamily="2" charset="-122"/>
                <a:cs typeface="Times New Roman" panose="02020603050405020304" pitchFamily="18" charset="0"/>
              </a:rPr>
              <a:t>联系</a:t>
            </a:r>
            <a:r>
              <a:rPr lang="zh-CN" altLang="zh-CN" sz="3600" b="1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与区别</a:t>
            </a:r>
            <a:endParaRPr lang="zh-CN" altLang="en-US" sz="3600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138B67-9472-4EFC-BED8-66753AA71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实验结果可以验证理论推导的正确性。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有一些参数、结构选择，可能理论上不好计算，但可以在仿真时手动调节参数来观测系统，这便于选定参数或结构。</a:t>
            </a:r>
            <a:r>
              <a:rPr lang="zh-CN" altLang="en-US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（如实验六第一题第一问，三阶系统，调节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使超调量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=20%</a:t>
            </a:r>
            <a:r>
              <a:rPr lang="zh-CN" altLang="en-US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20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实验结果可能和理论结果有一定差别（如放大器</a:t>
            </a:r>
            <a:r>
              <a:rPr lang="zh-CN" altLang="en-US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的输出受限于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饱和电压）。</a:t>
            </a:r>
            <a:r>
              <a:rPr lang="zh-CN" altLang="en-US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这就要求在理论设计阶段要把电路的物理特性考虑进去。</a:t>
            </a:r>
            <a:endParaRPr lang="zh-CN" altLang="zh-CN" sz="20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r>
              <a:rPr lang="zh-CN" altLang="en-US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为了简化问题，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理论计算可能是近似计算。如主导极点、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Bode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图（利用折线代替曲线）、奈奎斯特曲线（只分析大概趋势和关键点）等。而实验的输出是精确的曲线或波形。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实验中可能需要考虑在理论中不需考虑的问题：</a:t>
            </a:r>
          </a:p>
          <a:p>
            <a:pPr marL="800100" indent="-342900" algn="just">
              <a:spcAft>
                <a:spcPts val="0"/>
              </a:spcAft>
              <a:buFont typeface="+mj-ea"/>
              <a:buAutoNum type="circleNumDbPlain"/>
            </a:pP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实际电路有结构</a:t>
            </a:r>
            <a:r>
              <a:rPr lang="zh-CN" altLang="en-US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的束缚，对于一个传递函数，要拆分成适当的环节，每个环节对应一个特定模块电路。</a:t>
            </a:r>
          </a:p>
          <a:p>
            <a:pPr marL="800100" indent="-342900" algn="just">
              <a:spcAft>
                <a:spcPts val="0"/>
              </a:spcAft>
              <a:buFont typeface="+mj-ea"/>
              <a:buAutoNum type="circleNumDbPlain"/>
            </a:pP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校正时，在分析阶段</a:t>
            </a:r>
            <a:r>
              <a:rPr lang="zh-CN" altLang="en-US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只用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考虑传递函数的设计，不过在搭建物理电路时，要保证原来的电路</a:t>
            </a:r>
            <a:r>
              <a:rPr lang="zh-CN" altLang="en-US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结构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不能被改变。</a:t>
            </a:r>
            <a:r>
              <a:rPr lang="zh-CN" altLang="en-US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（实验六、实验十一）</a:t>
            </a:r>
            <a:endParaRPr lang="zh-CN" altLang="zh-CN" sz="20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1308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CDAEC08-CCFF-41B0-9A2F-13FD2D7D9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774" y="404421"/>
            <a:ext cx="6528126" cy="282973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8091CEF-DA93-4C57-829A-F351A975C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614" y="3528182"/>
            <a:ext cx="8186423" cy="292539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1B58093-2F53-4674-BAC1-5C69FC1A7DD8}"/>
              </a:ext>
            </a:extLst>
          </p:cNvPr>
          <p:cNvSpPr txBox="1"/>
          <p:nvPr/>
        </p:nvSpPr>
        <p:spPr>
          <a:xfrm>
            <a:off x="656869" y="699608"/>
            <a:ext cx="14114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实验六</a:t>
            </a:r>
          </a:p>
        </p:txBody>
      </p:sp>
    </p:spTree>
    <p:extLst>
      <p:ext uri="{BB962C8B-B14F-4D97-AF65-F5344CB8AC3E}">
        <p14:creationId xmlns:p14="http://schemas.microsoft.com/office/powerpoint/2010/main" val="125192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529A13C-FC61-4F82-8726-C3238A578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305" y="862236"/>
            <a:ext cx="6086520" cy="443392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64F3CB9-12A9-48DA-BAB2-FD53FE9639FE}"/>
              </a:ext>
            </a:extLst>
          </p:cNvPr>
          <p:cNvSpPr txBox="1"/>
          <p:nvPr/>
        </p:nvSpPr>
        <p:spPr>
          <a:xfrm>
            <a:off x="2540682" y="5719603"/>
            <a:ext cx="7652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状态反馈只配置极点，无法保证增益。需要补偿一个增益，消除稳态误差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096341-CF3D-4DAC-A620-7EA8675939E6}"/>
              </a:ext>
            </a:extLst>
          </p:cNvPr>
          <p:cNvSpPr txBox="1"/>
          <p:nvPr/>
        </p:nvSpPr>
        <p:spPr>
          <a:xfrm>
            <a:off x="693471" y="711882"/>
            <a:ext cx="22399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实验十一</a:t>
            </a:r>
          </a:p>
        </p:txBody>
      </p:sp>
    </p:spTree>
    <p:extLst>
      <p:ext uri="{BB962C8B-B14F-4D97-AF65-F5344CB8AC3E}">
        <p14:creationId xmlns:p14="http://schemas.microsoft.com/office/powerpoint/2010/main" val="2529422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4D28D0-A0F2-4CBF-8A38-EEB0A8273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D764E4-315C-4A89-AB9A-E7B101D3A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总得来说实验与理论是相辅相成的。通过实验</a:t>
            </a:r>
            <a:r>
              <a:rPr lang="zh-CN" altLang="en-US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我</a:t>
            </a:r>
            <a:r>
              <a:rPr lang="zh-CN" altLang="en-US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能够熟练使实验箱，对于本学期的线上实验，我能熟练地用</a:t>
            </a:r>
            <a:r>
              <a:rPr lang="en-US" altLang="zh-CN" kern="1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Matlab</a:t>
            </a:r>
            <a:r>
              <a:rPr lang="zh-CN" altLang="en-US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</a:t>
            </a:r>
            <a:r>
              <a:rPr lang="en-US" altLang="zh-CN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control system designer</a:t>
            </a:r>
            <a:r>
              <a:rPr lang="zh-CN" altLang="en-US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对系统进行分析，并利用</a:t>
            </a:r>
            <a:r>
              <a:rPr lang="en-US" altLang="zh-CN" kern="1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simulink</a:t>
            </a:r>
            <a:r>
              <a:rPr lang="zh-CN" altLang="en-US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simscape</a:t>
            </a:r>
            <a:r>
              <a:rPr lang="zh-CN" altLang="en-US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进行仿真。此外，我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对理论知识的理解</a:t>
            </a:r>
            <a:r>
              <a:rPr lang="zh-CN" altLang="en-US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也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更加深刻了，并且还</a:t>
            </a:r>
            <a:r>
              <a:rPr lang="zh-CN" altLang="en-US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认识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到了实验与理论之间的区别与联系</a:t>
            </a:r>
            <a:r>
              <a:rPr lang="zh-CN" altLang="en-US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，很有成就感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0318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60661E-14CE-4ABC-868C-76343AC2F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3388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6600" dirty="0"/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4160567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1094</TotalTime>
  <Words>365</Words>
  <Application>Microsoft Office PowerPoint</Application>
  <PresentationFormat>宽屏</PresentationFormat>
  <Paragraphs>20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等线</vt:lpstr>
      <vt:lpstr>等线 Light</vt:lpstr>
      <vt:lpstr>宋体</vt:lpstr>
      <vt:lpstr>Arial</vt:lpstr>
      <vt:lpstr>Office 主题​​</vt:lpstr>
      <vt:lpstr>AxGlyph</vt:lpstr>
      <vt:lpstr>AxMath</vt:lpstr>
      <vt:lpstr>Equation.AxMath</vt:lpstr>
      <vt:lpstr>控制理论综合实验答辩</vt:lpstr>
      <vt:lpstr>        自动控制理论的核心任务</vt:lpstr>
      <vt:lpstr>PowerPoint 演示文稿</vt:lpstr>
      <vt:lpstr>实验和理论间的联系与区别</vt:lpstr>
      <vt:lpstr>PowerPoint 演示文稿</vt:lpstr>
      <vt:lpstr>PowerPoint 演示文稿</vt:lpstr>
      <vt:lpstr>总结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曾 文正</dc:creator>
  <cp:lastModifiedBy>曾 文正</cp:lastModifiedBy>
  <cp:revision>47</cp:revision>
  <dcterms:created xsi:type="dcterms:W3CDTF">2020-07-24T08:15:26Z</dcterms:created>
  <dcterms:modified xsi:type="dcterms:W3CDTF">2020-07-25T11:16:19Z</dcterms:modified>
</cp:coreProperties>
</file>